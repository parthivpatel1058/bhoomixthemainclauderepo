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2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3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Wheat, same day (Rs/quintal)</c:v>
                </c:pt>
              </c:strCache>
            </c:strRef>
          </c:tx>
          <c:spPr>
            <a:solidFill>
              <a:srgbClr val="5C6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B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643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Raisen</c:v>
                  </c:pt>
                  <c:pt idx="1">
                    <c:v>Ratlam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2000</c:v>
                </c:pt>
                <c:pt idx="1">
                  <c:v>2826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</c:scaling>
        <c:delete val="0"/>
        <c:axPos val="l"/>
        <c:majorGridlines>
          <c:spPr>
            <a:ln w="12700" cap="flat">
              <a:solidFill>
                <a:srgbClr val="E1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Bargaining position</c:v>
                </c:pt>
              </c:strCache>
            </c:strRef>
          </c:tx>
          <c:spPr>
            <a:solidFill>
              <a:srgbClr val="5C6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B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472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One farmer
(40 kg)</c:v>
                  </c:pt>
                  <c:pt idx="1">
                    <c:v>One district
(300 farmers)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Marketplace commission</c:v>
                </c:pt>
              </c:strCache>
            </c:strRef>
          </c:tx>
          <c:spPr>
            <a:solidFill>
              <a:srgbClr val="1F47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2-3</c:v>
                  </c:pt>
                  <c:pt idx="2">
                    <c:v>Year 4-5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55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Partner and delivery</c:v>
                </c:pt>
              </c:strCache>
            </c:strRef>
          </c:tx>
          <c:spPr>
            <a:solidFill>
              <a:srgbClr val="97BC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2-3</c:v>
                  </c:pt>
                  <c:pt idx="2">
                    <c:v>Year 4-5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Data licensing</c:v>
                </c:pt>
              </c:strCache>
            </c:strRef>
          </c:tx>
          <c:spPr>
            <a:solidFill>
              <a:srgbClr val="C264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2-3</c:v>
                  </c:pt>
                  <c:pt idx="2">
                    <c:v>Year 4-5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5</c:v>
                </c:pt>
                <c:pt idx="2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4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n10\Downloads\bhoomix-main\bhoomix-main\pitch-assets\pages\hom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0" y="0"/>
            <a:ext cx="1554480" cy="6858000"/>
          </a:xfrm>
          <a:prstGeom prst="rect">
            <a:avLst/>
          </a:prstGeom>
          <a:solidFill>
            <a:srgbClr val="1F472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85800" y="1920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BhoomiX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685800" y="3017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" y="3657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farmer deserves the right price —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eventually, the right loan to go with it.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58521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NAMES]  ·  Indore  ·  bhoomix.vercel.app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started at home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come from a farming background.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family belongs to a village."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40233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was rarely the crop itself. It was almost always something around the crop — the wrong market, a disease caught too late, a deadline missed.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school topic that went looking for a problem. A problem that was already there.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showed up in the city too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Indore has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Quick-delivery grocery apps everywhere — delivering packaged and frozen food.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Indore cannot get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fresh produce — grown a short distance away, by farmers who cannot reach that buyer.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663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who cannot reach the city. A city that cannot reach the farmer. Same gap, both directions.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money disappears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needs a different fix — which is why a single-purpose app is not enough.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sells at the wrong mandi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737360"/>
          <a:ext cx="65836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2194560"/>
            <a:ext cx="3977640" cy="2377440"/>
          </a:xfrm>
          <a:prstGeom prst="roundRect">
            <a:avLst>
              <a:gd name="adj" fmla="val 4615"/>
            </a:avLst>
          </a:prstGeom>
          <a:solidFill>
            <a:srgbClr val="C2643C"/>
          </a:solidFill>
          <a:ln w="12700">
            <a:solidFill>
              <a:srgbClr val="C2643C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Rs. 826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quintal — same crop,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day, same state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ten quintals that is Rs. 8,000 the farmer never knows he lost.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catches disease too late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time damage is obvious to the naked eye,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meaningful crop loss has already happened.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diagnosis exists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it is a bus ride and a working day away.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3657600"/>
            <a:ext cx="52120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3886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decision gets made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guesswork, or not at all, until it is too late.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 misses a deadline that is not his fault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789920" cy="1463040"/>
          </a:xfrm>
          <a:prstGeom prst="roundRect">
            <a:avLst>
              <a:gd name="adj" fmla="val 7500"/>
            </a:avLst>
          </a:prstGeom>
          <a:solidFill>
            <a:srgbClr val="C2643C"/>
          </a:solidFill>
          <a:ln w="12700">
            <a:solidFill>
              <a:srgbClr val="C2643C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21031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 hours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480560" y="22860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report a localised crop loss under the national insurance scheme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 it, and a genuine loss is rejected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technicality — not on the merits.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COMPETITIVE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existing crop apps actually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2926080"/>
                <a:gridCol w="292608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crop apps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BhoomiX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a plant 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72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mandi prices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72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deadline help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72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the remedy in-app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72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one district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72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Yes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answer "what is wrong with my plant." None answer "what do I do next."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farmers, not 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buy seed in completely different ways — designing for the average satisfies neither.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advanced, market-linked farmer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the brands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yield claims before buying.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three sources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price a seed across sellers.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Converts on proof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certification and price — he decides.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mand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already behaves like this. We just remove a margin layer.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him our job is simple: show the certified option and an honest price.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traditional, relationship-based farmer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Buys on trust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dealer, sometimes for a generation.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not switch cold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alone does not earn that relationship.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no convincing from us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dealer has to trust us. Once.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agri-mark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has to arrive through someone he already trusts.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does not need to trust us. He needs his dealer to trust us.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remove the local dealer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most platforms try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out every middleman.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on trust long before it ever competes on price.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 instead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606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what the dealer sells, and the price he can afford to sell it at.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trust and price together.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9377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937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biggest strategic decision in the whole plan.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here is live today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bhoomix.vercel.app — openable on any phone, right now, during this presentation.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Photograph a leaf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crop and its growth stage.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 the likely disease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confidence score, not a guess.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Suggests a treatment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the farmer can buy in the same app.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crop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Intelligence Center — live.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Mandi Prices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open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from data.gov.in, refreshed daily.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by crop and state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markets before loading the cart.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price band shown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price plus the low-to-high range.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mand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rates across Madhya Pradesh.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feature that closes the Rs. 826 gap.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damage and insurance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GPS and timestamp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 at capture, not at export.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attached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for those exact coordinates.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72-hour countdown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 is on screen, not in memory.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dam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report with the live 72-hour rule.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schemes, in plain language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apply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sentence, not a legal clause.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actually get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rupee figure or subsidy rate.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direct link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to the official application page.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schem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central and state schemes, already integrated.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farmers miss schemes because nobody explains them simply.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Advisory, marketplace and mart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3413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Advisory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by text or photo, in the farmer’s own language, at any hour.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1828800"/>
            <a:ext cx="3413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14884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7432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 Market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20040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Seeds, fertiliser and tools — linked straight from the diagnosis that recommended them.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1828800"/>
            <a:ext cx="34137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14884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7432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AgriNova Mart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200400"/>
            <a:ext cx="277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groceries with farmers as the supply — the fresh-food gap, addressed.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75488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7548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and the ability to act on it live in the same place.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who actually farms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291840" cy="2194560"/>
          </a:xfrm>
          <a:prstGeom prst="roundRect">
            <a:avLst>
              <a:gd name="adj" fmla="val 5000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945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60120" y="31089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— the 22 of the Eighth Schedule, plus English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sign-in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0" y="269748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farmers who have a phone number but no email address at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0" y="19202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0" y="2240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Role-aware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0" y="26974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views for farmers, delivery partners and administrators.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5720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in English only would exclude most of the people it is built for.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nobody else 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crop app in India has millions of photographs of unhealthy plants.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knows what actually cured them.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491740" cy="2011680"/>
          </a:xfrm>
          <a:prstGeom prst="roundRect">
            <a:avLst>
              <a:gd name="adj" fmla="val 5455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3108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7033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1605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scans a leaf and receives a treatment.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51860" y="2788920"/>
            <a:ext cx="2491740" cy="2011680"/>
          </a:xfrm>
          <a:prstGeom prst="roundRect">
            <a:avLst>
              <a:gd name="adj" fmla="val 5455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71900" y="3108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37719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71900" y="37033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7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71900" y="41605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BhoomiX asks: did the treatment work?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788920"/>
            <a:ext cx="2491740" cy="2011680"/>
          </a:xfrm>
          <a:prstGeom prst="roundRect">
            <a:avLst>
              <a:gd name="adj" fmla="val 5455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3108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37033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tap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37960" y="41605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Cured · Better · No change · Worse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83980" y="2788920"/>
            <a:ext cx="2491740" cy="2011680"/>
          </a:xfrm>
          <a:prstGeom prst="roundRect">
            <a:avLst>
              <a:gd name="adj" fmla="val 5455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04020" y="310896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93040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04020" y="37033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farmer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04020" y="416052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advice is sharper than it was yesterday.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5029200"/>
            <a:ext cx="10789920" cy="914400"/>
          </a:xfrm>
          <a:prstGeom prst="roundRect">
            <a:avLst>
              <a:gd name="adj" fmla="val 12000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51560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that compounds. A competitor can clone the screens in a month — not three seasons of outcomes.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was actually built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full-stack product — not a clickable prototype, not a no-code demo.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— front of house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132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Frontend framework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with TypeScript, built using Vite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Styling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 CSS with a shared component library (shadcn/ui)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Routing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Router, with role-aware protected routes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State management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Context, scoped per concern — not one global store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Hosting</a:t>
                      </a:r>
                      <a:endParaRPr lang="en-US" sz="13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Vercel, auto-deployed on every change; source controlled with Git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— data, AI and delivery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107899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498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used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72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Backend database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PostgreSQL (Supabase) — auth, serverless functions, storage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— crop diagnosis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Gemini, multimodal: reads a photo, returns structured analysis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AI — advisory chat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vision-capable model served through NVIDIA’s inference platform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Live market data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data.gov.in, proxied through a serverless function with hourly caching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Weather data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Open-Meteo — a keyless public API, chosen after a paid key failed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Transactional email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Resend, with delivery events logged back for troubleshooting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4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single leaf photo travels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Farmer’s phone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— no app store install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6976" y="2999232"/>
            <a:ext cx="246888" cy="27432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22860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function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3017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every secret key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71616" y="2999232"/>
            <a:ext cx="246888" cy="27432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2860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3017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disease + confidence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06256" y="2999232"/>
            <a:ext cx="246888" cy="274320"/>
          </a:xfrm>
          <a:prstGeom prst="rightArrow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89720" y="2286000"/>
            <a:ext cx="2514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18320" y="25146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0" y="30175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per user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5720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 ever reaches the browser — keys live only inside functions the browser calls.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enforced — part 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Level Security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denies access by default. A user reads only rows a policy explicitly allows.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secret in the browser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keys, market-data keys and the admin key exist only inside serverless functions.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role checks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create a manager or partner is enforced in the function — not by hiding a button.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actually enforced — part 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privacy by design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delivery partner cannot see a phone or address until they accept that order — the query returns blanks.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Anti-enumeration reset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answers identically whether or not the account exists, so it cannot reveal who has one.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Signed, replay-proof hooks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events are verified with HMAC-SHA256; anything older than five minutes is rejected outright.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 not done yet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automated test suite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codebase today.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8404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was verified manually against the live deployment. That confirms it works today — it does not catch a regression introduced by a future change. Automated tests for sign-in, cart logic and the insurance deadline are the known next step.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here rather than left unmentioned.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Prompt-driven development, as an engineering method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not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demo. A static prototype. A template with the logo swapped.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212080" cy="2286000"/>
          </a:xfrm>
          <a:prstGeom prst="roundRect">
            <a:avLst>
              <a:gd name="adj" fmla="val 4800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required behaviour precisely and iterating in days — every feature tested against the live deployment before being called done.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66344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663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risk was never "can we build it." It is "can we move as fast as the field tells us to."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BUSINESS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seed actually gets there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will sell seed cheaper" is not a plan. Here is the mechanism.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sources only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7510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Seed Corporations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286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National Seeds Corporation.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0266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ICAR-affiliated seed hubs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375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lab-certified private suppliers.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39319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0782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tag on every listing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3891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batch reference the farmer can see.</a:t>
            </a:r>
            <a:endParaRPr lang="en-US" sz="1150" dirty="0"/>
          </a:p>
        </p:txBody>
      </p:sp>
      <p:pic>
        <p:nvPicPr>
          <p:cNvPr id="14" name="Image 0" descr="C:\Users\din10\Downloads\bhoomix-main\bhoomix-main\pitch-assets\pages\organ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49377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pic>
      <p:sp>
        <p:nvSpPr>
          <p:cNvPr id="15" name="Text 12"/>
          <p:cNvSpPr/>
          <p:nvPr/>
        </p:nvSpPr>
        <p:spPr>
          <a:xfrm>
            <a:off x="6537960" y="4937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whatever a local godown happens to be holding.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farmer sees why it is trustworthy — not just that we said so.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demand, then negotiate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28800"/>
          <a:ext cx="6400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2194560"/>
            <a:ext cx="4069080" cy="2468880"/>
          </a:xfrm>
          <a:prstGeom prst="roundRect">
            <a:avLst>
              <a:gd name="adj" fmla="val 444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680960" y="2468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80960" y="288036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price is not a discount we invent. It is a wholesale rate we unlock by turning many small orders into one large one — then pass most of it through.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Pre-orders collected in the six weeks before a sowing window.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 the margin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2606040"/>
            <a:ext cx="4572000" cy="530352"/>
          </a:xfrm>
          <a:prstGeom prst="roundRect">
            <a:avLst>
              <a:gd name="adj" fmla="val 20690"/>
            </a:avLst>
          </a:prstGeom>
          <a:solidFill>
            <a:srgbClr val="E9E4D6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26060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margin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05840" y="3264408"/>
            <a:ext cx="4572000" cy="530352"/>
          </a:xfrm>
          <a:prstGeom prst="roundRect">
            <a:avLst>
              <a:gd name="adj" fmla="val 20690"/>
            </a:avLst>
          </a:prstGeom>
          <a:solidFill>
            <a:srgbClr val="E9E4D6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326440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margin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3922776"/>
            <a:ext cx="4572000" cy="530352"/>
          </a:xfrm>
          <a:prstGeom prst="roundRect">
            <a:avLst>
              <a:gd name="adj" fmla="val 20690"/>
            </a:avLst>
          </a:prstGeom>
          <a:solidFill>
            <a:srgbClr val="E9E4D6"/>
          </a:solidFill>
          <a:ln w="12700">
            <a:solidFill>
              <a:srgbClr val="D8D2C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34440" y="392277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dealer margin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2024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BhoomiX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0" y="2606040"/>
            <a:ext cx="4572000" cy="530352"/>
          </a:xfrm>
          <a:prstGeom prst="roundRect">
            <a:avLst>
              <a:gd name="adj" fmla="val 20690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60604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commission line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33756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than the sum it replaces — our cost to serve is an app and a delivery network, not four warehouses.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50292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margin become one — and the one is smaller.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 outcome tracking to seed itself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011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once, a season later: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did this variety actually perform?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84048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turns every purchase into a data point about which seed performs in which district and soil — something no seed company collects at this resolution, because they sell through dealers who never report back.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 — the natural next use of infrastructure we have already proven works.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distributor tour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going to guess who the right seed partners are from a spreadsheet.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stops in every district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Krishi Vigyan Kendra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government’s district farm science centre — the fastest route to a credible shortlist.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5186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190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37719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190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Certification Agency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7190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distributor’s claims against the actual certificate, not their word.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Certified distributors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volume terms, using real aggregated demand from the app.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8398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0402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2" name="Text 20"/>
          <p:cNvSpPr/>
          <p:nvPr/>
        </p:nvSpPr>
        <p:spPr>
          <a:xfrm>
            <a:off x="93040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402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Farmers themselves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0402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segments — because the tour is validation, not only sourcing.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output per district visit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signed or verbally committed sourcing relationship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63640" y="210312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documented reason it did not work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85800" y="45720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touring for the sake of touring. Starting in [DISTRICT].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Schemes we build with, not around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this already has a public funding channel designed for exactly this problem.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and input subsidy channels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Food Security Mission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subsidises certified seed in identified districts. We route procurement through it — a farmer should stack the subsidy on top of our price, not choose.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Aatmanirbharta in Pulses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quality seed access and assured procurement for pulse farmers — a direct match for one of our highest relief categories.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9377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937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current schemes — already integrated into the app’s own Schemes page.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SUPPORT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and bargaining power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 Infrastructure Fund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Concessional-interest financing for post-harvest and storage — the intended vehicle for a regional seed hub, instead of further equity dilution.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 FPO scheme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Producer Organisation is collective bargaining power with a legal structure — it makes aggregated-demand pricing stronger and more durable.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9377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937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to replace what government already funds — only to make it usable from a phone.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for the farmer, on purpose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unsure whether he can afford advice will not ask for it. Getting him to ask is the point.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we earn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commission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seed, fertiliser and tools — smaller than the multi-layer margin it replaces.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5186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190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37719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7190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and dealer fees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7190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shops pay to be listed and routed demand they did not have to find.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margin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3796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orders fulfilled through the registered partner network.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983980" y="1920240"/>
            <a:ext cx="2491740" cy="2743200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0402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22" name="Text 20"/>
          <p:cNvSpPr/>
          <p:nvPr/>
        </p:nvSpPr>
        <p:spPr>
          <a:xfrm>
            <a:off x="93040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4020" y="2834640"/>
            <a:ext cx="1851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licensing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04020" y="3291840"/>
            <a:ext cx="18516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3-5 only. Consented, anonymised. Not revenue today.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mix is expected to shift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783080"/>
          <a:ext cx="107899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53949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5394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shape, not a forecast — the point is that data revenue is late, not first.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raising, and for what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4300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[AMOUNT] for [EQUITY %]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3413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352044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1148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working capital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aggregated-demand pricing has capital behind it to actually execute.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3880" y="3200400"/>
            <a:ext cx="3413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3920" y="352044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4" name="Text 12"/>
          <p:cNvSpPr/>
          <p:nvPr/>
        </p:nvSpPr>
        <p:spPr>
          <a:xfrm>
            <a:off x="46939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93920" y="41148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district field tour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93920" y="4572000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sourcing decisions should follow research, not precede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61960" y="3200400"/>
            <a:ext cx="3413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2000" y="352044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411480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hardening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82000" y="4572000"/>
            <a:ext cx="277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 we scale second is infrastructure that carries real transaction volume.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Earned trust, not paid reach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agri-marketing fails the moment it looks like marketing.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tour is the campaign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tour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KVK visit and farmer conversation is also the first hundred relationships in that district. We do not tour and then market — the tour is the go-to-market.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local dealer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Stocked with certified seed at a better rate, he has a direct financial reason to tell his own customers — who already trust him more than any advertisement.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75488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7548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marketing turn out to be the same person.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WhatsApp and existing gatherings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 loop as proof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farmers, real seasons, real yields — turned into vernacular testimony.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WhatsApp, not paid social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rural word-of-mouth actually travels. Support it rather than fight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192024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24028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83464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extension events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29184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five minutes on an agenda that already exists, instead of building a gathering.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377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937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trusts another farmer’s harvest more than any brand claim.</a:t>
            </a:r>
            <a:endParaRPr lang="en-US" sz="13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3 TO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 bank will pay for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that turns a marketplace into infrastructure.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accumulates on its 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longitudinal</a:t>
            </a:r>
            <a:endParaRPr lang="en-US" sz="30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farm-performance history.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3657600"/>
            <a:ext cx="896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grown. What was bought. Whether the treatment worked. Whether the seed performed. Whether a claim was filed, and how it resolved.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a lender has almost none of when underwriting a smallholder today.</a:t>
            </a:r>
            <a:endParaRPr lang="en-US" sz="13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good farmers pay bad rates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today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on land collateral alone. A farmer with three excellent seasons is indistinguishable from one with none.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verified record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lender who currently cannot see him at all can price him fairly — instead of declining him by default.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9377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937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thinnest paperwork currently means exclusion, not a fair assessment.</a:t>
            </a:r>
            <a:endParaRPr lang="en-US" sz="13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only works through real consent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RBI Account Aggregator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existing, regulated consent framework for exactly this kind of data sharing.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468880"/>
          </a:xfrm>
          <a:prstGeom prst="roundRect">
            <a:avLst>
              <a:gd name="adj" fmla="val 4444"/>
            </a:avLst>
          </a:prstGeom>
          <a:solidFill>
            <a:srgbClr val="17381A"/>
          </a:solidFill>
          <a:ln w="12700">
            <a:solidFill>
              <a:srgbClr val="2E5A3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 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6517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Personal Data Protection Act — opt-in, explicit, per request, every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75488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C2643C"/>
          </a:solidFill>
          <a:ln w="12700">
            <a:solidFill>
              <a:srgbClr val="C2643C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754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legal footnote. It is what separates this from a data-selling business that would rightly destroy farmer trust.</a:t>
            </a:r>
            <a:endParaRPr lang="en-US" sz="1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a lender pays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licensing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 for anonymised, aggregated regional risk signal — useful for pricing a whole loan book more accurately.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Per-loan referral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7432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consenting farmer’s verified history becomes part of his own loan application, and earns him a better rate.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84632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846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we sold his data — because we gave him a way to prove something paperwork never could.</a:t>
            </a:r>
            <a:endParaRPr lang="en-US" sz="13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live, outcome loop running, first district piloted.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2-3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network at scale across districts, dealer partnerships compounding.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4-5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farm history becomes a credit signal — with consent, under DPDP.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only possible because the one before it earned the data.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Goals — 1, 2, 8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 — No Poverty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market-price gap protects income a farmer has already earned.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2 — Zero Hunger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detection protects yield before a field is lost.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 — Decent Work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 discovery, plus livelihoods for local delivery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Development Goals — 9, 10, 13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9 — Innovation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diagnostics and government open data, in a smallholder’s pocket.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388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392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2" name="Text 10"/>
          <p:cNvSpPr/>
          <p:nvPr/>
        </p:nvSpPr>
        <p:spPr>
          <a:xfrm>
            <a:off x="46939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392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10 — Reduced Inequalities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392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23-language support removes the literacy barrier that locks farmers 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1960" y="2011680"/>
            <a:ext cx="341376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1E4D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82000" y="2331720"/>
            <a:ext cx="457200" cy="457200"/>
          </a:xfrm>
          <a:prstGeom prst="ellipse">
            <a:avLst/>
          </a:prstGeom>
          <a:solidFill>
            <a:srgbClr val="1F472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2926080"/>
            <a:ext cx="277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13 — Climate Action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3383280"/>
            <a:ext cx="277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recorded with every damage report, building a real risk record.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48463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features that already exist — not to aspiration.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audience we did not design for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Medicinal plant catalogue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Tulsi, Ashwagandha, Aloe Vera, Stevia — with real price, unit, supplying nursery and distance. Standard Pharmacognosy subjects, with live sourcing data attached.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treatment efficacy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 oil, Trichoderma, Panchagavya — combined with the 7-day outcome check, this becomes real efficacy data a pharmacy research project normally cannot get.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93776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937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observation, not a built feature — the data already exists for another purpose.</a:t>
            </a:r>
            <a:endParaRPr lang="en-US" sz="13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actually stand today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E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fully built and live.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can be demonstrated on request — live, not from screenshots.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120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6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5603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yet. No formal farmer pilot yet. No user interviews yet. The distributor tour has not happened.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50292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1F4720"/>
          </a:solidFill>
          <a:ln w="12700">
            <a:solidFill>
              <a:srgbClr val="1F472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5029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 that does not survive a follow-up question is worse than being upfront now.</a:t>
            </a:r>
            <a:endParaRPr lang="en-US" sz="13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F47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n10\Downloads\bhoomix-main\bhoomix-main\pitch-assets\pages\crop-ai.jp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1168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has to earn trust one district,</a:t>
            </a:r>
            <a:endParaRPr lang="en-US" sz="34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dealer, one farmer at a time.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0" y="356616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9E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not the slow part of this plan. That is the moat.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448056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BhoomiX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bhoomix.vercel.app  ·  [TEAM NAMES]  ·  Indore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385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BhoomiX — Business Plan</dc:title>
  <dc:subject>PptxGenJS Presentation</dc:subject>
  <dc:creator>BhoomiX</dc:creator>
  <cp:lastModifiedBy>BhoomiX</cp:lastModifiedBy>
  <cp:revision>1</cp:revision>
  <dcterms:created xsi:type="dcterms:W3CDTF">2026-08-17T15:12:04Z</dcterms:created>
  <dcterms:modified xsi:type="dcterms:W3CDTF">2026-08-17T15:12:04Z</dcterms:modified>
</cp:coreProperties>
</file>